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strument Sans Medium" panose="020B0604020202020204" charset="0"/>
      <p:regular r:id="rId13"/>
    </p:embeddedFont>
    <p:embeddedFont>
      <p:font typeface="Instrument Sans Semi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454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4.jpe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7673" y="1463102"/>
            <a:ext cx="4479641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AI Smart Water Dispenser — Implementation Guide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157673" y="2564785"/>
            <a:ext cx="4479642" cy="504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dispensing, hydration reminders, leak detection, and Blynk IoT notifications. Practical step‑by‑step for makers and IoT developers.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3B6DCF-2B28-4395-DE9A-5A52FF0E7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315" y="69524"/>
            <a:ext cx="4447308" cy="5019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939CD0-7AA7-A4BE-B1EB-300737885B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89" t="26437" r="13429" b="26437"/>
          <a:stretch>
            <a:fillRect/>
          </a:stretch>
        </p:blipFill>
        <p:spPr>
          <a:xfrm>
            <a:off x="439387" y="3834388"/>
            <a:ext cx="1609107" cy="10099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118437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839962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Common issues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2226246"/>
            <a:ext cx="4722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Irregular hydration habits — missed daily intake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Unnoticed leaks causing damage and waste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dispensing inconvenient for elderly/disabled users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3165277"/>
            <a:ext cx="4722763" cy="793775"/>
          </a:xfrm>
          <a:prstGeom prst="roundRect">
            <a:avLst>
              <a:gd name="adj" fmla="val 7501"/>
            </a:avLst>
          </a:prstGeom>
          <a:solidFill>
            <a:srgbClr val="E2E3E9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877" y="3366046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85816" y="3342456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Goal: reliable, low-cost DIY device that dispenses water, tracks intake, alerts users and detects leaks.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6526EC-7553-4649-65BE-BA6F95A9F8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89" t="26437" r="13429" b="26437"/>
          <a:stretch>
            <a:fillRect/>
          </a:stretch>
        </p:blipFill>
        <p:spPr>
          <a:xfrm>
            <a:off x="7534893" y="4093402"/>
            <a:ext cx="1609107" cy="10099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B482D6-8B5C-2BCB-4568-F1ED37A39F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000"/>
          <a:stretch>
            <a:fillRect/>
          </a:stretch>
        </p:blipFill>
        <p:spPr>
          <a:xfrm>
            <a:off x="219983" y="194760"/>
            <a:ext cx="3542828" cy="47219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400124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Working Principle (At a glance)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925119" y="925264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25119" y="1114202"/>
            <a:ext cx="4722763" cy="14288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6" name="Text 3"/>
          <p:cNvSpPr/>
          <p:nvPr/>
        </p:nvSpPr>
        <p:spPr>
          <a:xfrm>
            <a:off x="3925119" y="1202531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Sense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25119" y="1449884"/>
            <a:ext cx="47227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IR sensor or button triggers dispense; flow sensor measures volume; leak sensor monitors surroundings.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925119" y="1993181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925119" y="2170212"/>
            <a:ext cx="4722763" cy="14288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10" name="Text 7"/>
          <p:cNvSpPr/>
          <p:nvPr/>
        </p:nvSpPr>
        <p:spPr>
          <a:xfrm>
            <a:off x="3925119" y="2270447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Control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925119" y="2517800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ESP32 reads sensors, runs logic, controls relay for pump via buck-converted power.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925119" y="2884736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925119" y="3049786"/>
            <a:ext cx="4722763" cy="14288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14" name="Text 11"/>
          <p:cNvSpPr/>
          <p:nvPr/>
        </p:nvSpPr>
        <p:spPr>
          <a:xfrm>
            <a:off x="3925119" y="3162002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Notify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925119" y="3409355"/>
            <a:ext cx="47227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ESP32 sends status &amp; alerts to Blynk; OLED shows local info; buzzer for immediate alarms.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925119" y="3952652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925119" y="4105796"/>
            <a:ext cx="4722763" cy="14288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18" name="Text 15"/>
          <p:cNvSpPr/>
          <p:nvPr/>
        </p:nvSpPr>
        <p:spPr>
          <a:xfrm>
            <a:off x="3925119" y="4229919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Record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925119" y="4477271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Flow sensor tallies daily intake; data logged locally and in Blynk dashboard.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E93F10A-863C-8D43-3FCE-11365760C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16" y="372497"/>
            <a:ext cx="3515096" cy="439850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38D0C83-A1E7-4D0F-49C4-73243E5B9F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89" t="26437" r="13429" b="26437"/>
          <a:stretch>
            <a:fillRect/>
          </a:stretch>
        </p:blipFill>
        <p:spPr>
          <a:xfrm>
            <a:off x="7859491" y="4297135"/>
            <a:ext cx="1284509" cy="8062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90688" y="116788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System Architecture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90688" y="183753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High‑level connections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41261" y="2190238"/>
            <a:ext cx="472276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ESP32: central controller (Wi‑Fi, timers, Blynk client)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Relay → controls 12V pump via LM2596 (5V logic trigger)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Flow sensor → pulse output to ESP32 counter pin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IR sensor / push button → dispense trigger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Leak sensor → interrupt → immediate alert + pump lockout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OLED + buzzer → local UX feedback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5BCC13-1249-DDEA-74E2-AEB2C44B39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89" t="26437" r="13429" b="26437"/>
          <a:stretch>
            <a:fillRect/>
          </a:stretch>
        </p:blipFill>
        <p:spPr>
          <a:xfrm>
            <a:off x="7534893" y="4093402"/>
            <a:ext cx="1609107" cy="10099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6F1EA4-4E54-FFC1-6EF0-BEF6962157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000"/>
          <a:stretch>
            <a:fillRect/>
          </a:stretch>
        </p:blipFill>
        <p:spPr>
          <a:xfrm>
            <a:off x="474966" y="179049"/>
            <a:ext cx="3590454" cy="47854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0394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500" dirty="0"/>
          </a:p>
        </p:txBody>
      </p:sp>
      <p:sp>
        <p:nvSpPr>
          <p:cNvPr id="11" name="Text 1"/>
          <p:cNvSpPr/>
          <p:nvPr/>
        </p:nvSpPr>
        <p:spPr>
          <a:xfrm>
            <a:off x="496119" y="4537174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quantities: one of each listed part; jumpers/tubing as required. Enclosure and tank sized to use case.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BADF036-E9C3-0C02-FB7B-608491007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31" y="77190"/>
            <a:ext cx="8740239" cy="44599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34DD0E0-E458-9B00-A61B-289980EE64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89" t="26437" r="13429" b="26437"/>
          <a:stretch>
            <a:fillRect/>
          </a:stretch>
        </p:blipFill>
        <p:spPr>
          <a:xfrm>
            <a:off x="7588332" y="4537174"/>
            <a:ext cx="1555668" cy="5661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0176" y="28842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Electrical Connections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376057" y="1156132"/>
            <a:ext cx="52098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wiring notes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376057" y="1807665"/>
            <a:ext cx="4752677" cy="2239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12V adapter → pump + LM2596 input. LM2596 output = 5V → ESP32 VIN (or 5V pin if recommended).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ESP32 GPIO → relay IN (use common ground). Relay switches 12V to pump.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Flow sensor DATA → ESP32 digital input with interrupt; supply 5V/3.3V per spec.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Leak sensor → analog/digital input (use pull‑up); trigger immediate alarm and disable pump.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OLED I2C → SDA/SCL to ESP32 I2C pins; share ground.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09D464-B889-F496-7695-7E4C2DC07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35" y="926757"/>
            <a:ext cx="3995124" cy="37440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BB0198-97CE-00FB-4BAE-40C8ECF6C6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89" t="26437" r="13429" b="26437"/>
          <a:stretch>
            <a:fillRect/>
          </a:stretch>
        </p:blipFill>
        <p:spPr>
          <a:xfrm>
            <a:off x="7534893" y="4093402"/>
            <a:ext cx="1609107" cy="10099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3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Software &amp; Logic Flow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177826"/>
            <a:ext cx="6339185" cy="2901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6361" y="3390124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Send Alerts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56456" y="3390124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Count Pulses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64702" y="3275491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Activate Pump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40341" y="3275491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Detect Trigger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8156" y="389349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Local logic: debounce triggers, convert flow pulses → mL, maintain daily counter, leak overrides pump and sends immediate alert.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50F8E6-09D9-EEDD-5419-3746C57A7B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89" t="26437" r="13429" b="26437"/>
          <a:stretch>
            <a:fillRect/>
          </a:stretch>
        </p:blipFill>
        <p:spPr>
          <a:xfrm>
            <a:off x="7534893" y="4238551"/>
            <a:ext cx="1609107" cy="86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742" y="522786"/>
            <a:ext cx="5673111" cy="535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Blynk Integration &amp;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Notifications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40843"/>
            <a:ext cx="4784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to send to Blynk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095202"/>
            <a:ext cx="432777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Total daily intake (mL)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Last dispense volume &amp; timestamp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Leak status (alarm/clear)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Battery/power status (optional)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278684"/>
            <a:ext cx="4784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3633043"/>
            <a:ext cx="432777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Push notification when leak detected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Reminder notifications based on schedule or low intake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F5EA6-1D4D-F364-81BE-6AA3E7FC61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452" t="7042" r="10774" b="5223"/>
          <a:stretch>
            <a:fillRect/>
          </a:stretch>
        </p:blipFill>
        <p:spPr>
          <a:xfrm>
            <a:off x="4482935" y="225630"/>
            <a:ext cx="4530436" cy="41919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043C56-833D-E803-8376-0C6539BEB4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89" t="26437" r="13429" b="26437"/>
          <a:stretch>
            <a:fillRect/>
          </a:stretch>
        </p:blipFill>
        <p:spPr>
          <a:xfrm>
            <a:off x="7534893" y="4186052"/>
            <a:ext cx="1609107" cy="9172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393129"/>
            <a:ext cx="4722763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Overflow &amp; Safety Considerations</a:t>
            </a:r>
            <a:endParaRPr lang="en-US" sz="2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71315"/>
            <a:ext cx="2292697" cy="16815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58751" y="1575941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54695" y="2029495"/>
            <a:ext cx="19755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Hardware safeguards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54695" y="2329904"/>
            <a:ext cx="197554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Float valve, overflow sensor in tank, mechanical stop for pump cycles.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6184" y="1471315"/>
            <a:ext cx="2292697" cy="16815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88817" y="1575941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3084761" y="2029495"/>
            <a:ext cx="19755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Software safeguards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3084761" y="2329904"/>
            <a:ext cx="197554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Max dispense timeout, pulse sanity checks, leak lockout flag.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290218"/>
            <a:ext cx="4722763" cy="14600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773784" y="3394844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54695" y="3848398"/>
            <a:ext cx="44056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Power &amp; electrical safety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54695" y="4148807"/>
            <a:ext cx="440561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Fuse on 12V line, proper insulation, waterproof connectors near liquids.</a:t>
            </a:r>
            <a:endParaRPr lang="en-US" sz="10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A7EB0-6F03-7CCA-5B62-E51B638843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280" r="14244"/>
          <a:stretch>
            <a:fillRect/>
          </a:stretch>
        </p:blipFill>
        <p:spPr>
          <a:xfrm>
            <a:off x="5708822" y="377720"/>
            <a:ext cx="3058297" cy="38687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B5C9095-78EB-4421-F907-6CAB6890E64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489" t="26437" r="13429" b="26437"/>
          <a:stretch>
            <a:fillRect/>
          </a:stretch>
        </p:blipFill>
        <p:spPr>
          <a:xfrm>
            <a:off x="7534893" y="4246443"/>
            <a:ext cx="1609107" cy="8569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925" y="14648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Impact, Uses &amp; Next Steps</a:t>
            </a:r>
            <a:endParaRPr lang="en-US" sz="2750" dirty="0"/>
          </a:p>
        </p:txBody>
      </p:sp>
      <p:sp>
        <p:nvSpPr>
          <p:cNvPr id="12" name="Text 7"/>
          <p:cNvSpPr/>
          <p:nvPr/>
        </p:nvSpPr>
        <p:spPr>
          <a:xfrm>
            <a:off x="5468158" y="36801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Next steps for builders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5210398" y="752438"/>
            <a:ext cx="3902943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Prototype on breadboard → test flow calibration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 Blynk dashboard widgets (gauge, event log, push alerts)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Enclosure and waterproofing design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Optional: add authentication, local storage (SPIFFS/SD) for resilience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203616" y="2191438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E2E3E9"/>
          </a:solidFill>
          <a:ln/>
        </p:spPr>
      </p:sp>
      <p:sp>
        <p:nvSpPr>
          <p:cNvPr id="16" name="Text 10"/>
          <p:cNvSpPr/>
          <p:nvPr/>
        </p:nvSpPr>
        <p:spPr>
          <a:xfrm>
            <a:off x="5420463" y="2262002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Start small: validate sensors and safety logic before final enclosure.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0D36631-F4F1-F5E1-BEB8-CD5FF9EC5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59" y="781879"/>
            <a:ext cx="4838116" cy="408700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2815089-D308-4934-E756-1500234287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89" t="26437" r="13429" b="26437"/>
          <a:stretch>
            <a:fillRect/>
          </a:stretch>
        </p:blipFill>
        <p:spPr>
          <a:xfrm>
            <a:off x="7534893" y="4093402"/>
            <a:ext cx="1609107" cy="10099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548</Words>
  <Application>Microsoft Office PowerPoint</Application>
  <PresentationFormat>On-screen Show (16:9)</PresentationFormat>
  <Paragraphs>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Instrument Sans SemiBold</vt:lpstr>
      <vt:lpstr>Instrument Sans Light</vt:lpstr>
      <vt:lpstr>Instrument Sans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Hariprasath</dc:creator>
  <cp:lastModifiedBy>hariprasath upanishath</cp:lastModifiedBy>
  <cp:revision>2</cp:revision>
  <dcterms:created xsi:type="dcterms:W3CDTF">2026-07-14T14:18:38Z</dcterms:created>
  <dcterms:modified xsi:type="dcterms:W3CDTF">2026-07-14T15:22:23Z</dcterms:modified>
</cp:coreProperties>
</file>